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Poupança Mensal</c:v>
                </c:pt>
              </c:strCache>
            </c:strRef>
          </c:tx>
          <c:spPr>
            <a:solidFill>
              <a:srgbClr val="0D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11044</c:v>
                </c:pt>
                <c:pt idx="1">
                  <c:v>14384</c:v>
                </c:pt>
                <c:pt idx="2">
                  <c:v>17082</c:v>
                </c:pt>
                <c:pt idx="3">
                  <c:v>17167</c:v>
                </c:pt>
                <c:pt idx="4">
                  <c:v>17167</c:v>
                </c:pt>
                <c:pt idx="5">
                  <c:v>5959</c:v>
                </c:pt>
                <c:pt idx="6">
                  <c:v>18371</c:v>
                </c:pt>
                <c:pt idx="7">
                  <c:v>18371</c:v>
                </c:pt>
                <c:pt idx="8">
                  <c:v>17150</c:v>
                </c:pt>
                <c:pt idx="9">
                  <c:v>17150</c:v>
                </c:pt>
                <c:pt idx="10">
                  <c:v>30150</c:v>
                </c:pt>
                <c:pt idx="11">
                  <c:v>36000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R$ mil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8341" y="1225897"/>
            <a:ext cx="25671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FAMILIAR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77508" y="1641128"/>
            <a:ext cx="518883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Financeiro 2026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373719" y="2456408"/>
            <a:ext cx="439626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Jornada de Construção e Prosperidade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190851" y="3130748"/>
            <a:ext cx="762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78676" y="3692723"/>
            <a:ext cx="7865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2026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712440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 indicadores principais do ano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153864"/>
            <a:ext cx="4610100" cy="1264741"/>
          </a:xfrm>
          <a:prstGeom prst="roundRect">
            <a:avLst>
              <a:gd name="adj" fmla="val 482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325314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 LÍQUIDA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6250" y="1542455"/>
            <a:ext cx="431368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450"/>
              </a:spcBef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R$ 55.000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476250" y="2087166"/>
            <a:ext cx="43136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12.000 @ R$ 6,00 - Simples Nacional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2551956"/>
            <a:ext cx="2238375" cy="1085552"/>
          </a:xfrm>
          <a:prstGeom prst="roundRect">
            <a:avLst>
              <a:gd name="adj" fmla="val 5616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2713881"/>
            <a:ext cx="19528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INICIAL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47675" y="2917627"/>
            <a:ext cx="195281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7675" y="3328988"/>
            <a:ext cx="19528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Começando do zero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57475" y="2551956"/>
            <a:ext cx="2238375" cy="1085552"/>
          </a:xfrm>
          <a:prstGeom prst="roundRect">
            <a:avLst>
              <a:gd name="adj" fmla="val 5616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19400" y="2713881"/>
            <a:ext cx="19528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FIM 2026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819400" y="2917627"/>
            <a:ext cx="195281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R$ 341K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819400" y="3328988"/>
            <a:ext cx="19528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(faixa 275-410K)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5750" y="3770858"/>
            <a:ext cx="4610100" cy="1066502"/>
          </a:xfrm>
          <a:prstGeom prst="roundRect">
            <a:avLst>
              <a:gd name="adj" fmla="val 5716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" y="3923258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NA CASA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6250" y="4127004"/>
            <a:ext cx="43136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R$ 437.000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6250" y="4538365"/>
            <a:ext cx="43136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R$ 230K + 2026: R$ 207K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86350" y="1952625"/>
            <a:ext cx="3771900" cy="2085677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67325" y="2133600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Principais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67325" y="24878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38775" y="2440186"/>
            <a:ext cx="33032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Janeiro-Maio: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Finalizar interior da casa (elétrica, piso, acabamentos)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67325" y="29220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38775" y="2874466"/>
            <a:ext cx="17302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Mudança para casa nova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67325" y="319638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38775" y="3148757"/>
            <a:ext cx="25592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Julho-Outubro: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Pintura e acabamentos externos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7325" y="347067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38775" y="3423047"/>
            <a:ext cx="2352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Deck finalizado - Casa completa!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7325" y="374496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38775" y="3697337"/>
            <a:ext cx="17463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Dezembro: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Patrimônio ~R$ 341K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Risco de Receita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8952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remoto para empresas americanas - 2 clientes atuais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130796"/>
            <a:ext cx="4041577" cy="857101"/>
          </a:xfrm>
          <a:prstGeom prst="roundRect">
            <a:avLst>
              <a:gd name="adj" fmla="val 711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245096"/>
            <a:ext cx="3850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ATUAL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7533" y="1467892"/>
            <a:ext cx="1179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7533" y="1753642"/>
            <a:ext cx="11798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716625" y="1467892"/>
            <a:ext cx="1179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12K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16625" y="1753642"/>
            <a:ext cx="11798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 total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025717" y="1467892"/>
            <a:ext cx="1179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R$ 55K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25717" y="1753642"/>
            <a:ext cx="11798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líquido/mês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85750" y="2083147"/>
            <a:ext cx="4041577" cy="1807518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2206972"/>
            <a:ext cx="38309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DE RISCO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8625" y="24869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1025" y="2448818"/>
            <a:ext cx="3675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de Clientes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1025" y="2601218"/>
            <a:ext cx="36754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clientes = 50% da receita em cada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28625" y="283547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1025" y="2797373"/>
            <a:ext cx="3675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Volatilidade Cambial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1025" y="2949773"/>
            <a:ext cx="36754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USD/BRL varia ±15-20% ao ano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28625" y="318402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1025" y="3145929"/>
            <a:ext cx="3675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Tech US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1025" y="3298329"/>
            <a:ext cx="36754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Layoffs e cortes de orçamento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28625" y="353258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1025" y="3494484"/>
            <a:ext cx="3675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Recolocação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1025" y="3646884"/>
            <a:ext cx="36754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meses para novo cliente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85750" y="3985915"/>
            <a:ext cx="4041577" cy="984796"/>
          </a:xfrm>
          <a:prstGeom prst="roundRect">
            <a:avLst>
              <a:gd name="adj" fmla="val 6190"/>
            </a:avLst>
          </a:prstGeom>
          <a:solidFill>
            <a:srgbClr val="FDF2F2"/>
          </a:solidFill>
          <a:ln w="9525">
            <a:solidFill>
              <a:srgbClr val="FADB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8625" y="4109740"/>
            <a:ext cx="38309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ESTRESSE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28625" y="4332536"/>
            <a:ext cx="1242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1 cliente (3 meses)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33936" y="4332536"/>
            <a:ext cx="561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-R$ 82K/ano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8625" y="4523036"/>
            <a:ext cx="783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valoriza 15%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33936" y="4523036"/>
            <a:ext cx="561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-R$ 99K/ano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8625" y="4713536"/>
            <a:ext cx="853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combinados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80954" y="4713536"/>
            <a:ext cx="615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-R$ 165K/ano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479727" y="1147763"/>
            <a:ext cx="4378523" cy="1300907"/>
          </a:xfrm>
          <a:prstGeom prst="roundRect">
            <a:avLst>
              <a:gd name="adj" fmla="val 4686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22602" y="1271588"/>
            <a:ext cx="41746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COM RISCO (10K simulações)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22602" y="1539180"/>
            <a:ext cx="388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079802" y="1513433"/>
            <a:ext cx="2797373" cy="171450"/>
          </a:xfrm>
          <a:prstGeom prst="roundRect">
            <a:avLst>
              <a:gd name="adj" fmla="val 1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99348" y="1513433"/>
            <a:ext cx="1398687" cy="171450"/>
          </a:xfrm>
          <a:prstGeom prst="roundRect">
            <a:avLst>
              <a:gd name="adj" fmla="val 1666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18895" y="1513433"/>
            <a:ext cx="559445" cy="171450"/>
          </a:xfrm>
          <a:prstGeom prst="roundRect">
            <a:avLst>
              <a:gd name="adj" fmla="val 1666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38135" y="1539180"/>
            <a:ext cx="777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R$ 214K - 470K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622602" y="1767780"/>
            <a:ext cx="388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079802" y="1742033"/>
            <a:ext cx="2797373" cy="171450"/>
          </a:xfrm>
          <a:prstGeom prst="roundRect">
            <a:avLst>
              <a:gd name="adj" fmla="val 1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39246" y="1742033"/>
            <a:ext cx="1398687" cy="171450"/>
          </a:xfrm>
          <a:prstGeom prst="roundRect">
            <a:avLst>
              <a:gd name="adj" fmla="val 1666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58793" y="1742033"/>
            <a:ext cx="559445" cy="171450"/>
          </a:xfrm>
          <a:prstGeom prst="roundRect">
            <a:avLst>
              <a:gd name="adj" fmla="val 1666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938135" y="1767780"/>
            <a:ext cx="777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R$ 1.1M - 2.2M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4622602" y="1996380"/>
            <a:ext cx="388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5079802" y="1970633"/>
            <a:ext cx="2797373" cy="171450"/>
          </a:xfrm>
          <a:prstGeom prst="roundRect">
            <a:avLst>
              <a:gd name="adj" fmla="val 16667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79145" y="1970633"/>
            <a:ext cx="1398687" cy="17145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98691" y="1970633"/>
            <a:ext cx="559445" cy="17145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938135" y="1996380"/>
            <a:ext cx="777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R$ 2.1M - 4.4M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4581674" y="2218283"/>
            <a:ext cx="41746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600"/>
              </a:spcBef>
              <a:buNone/>
            </a:pPr>
            <a:r>
              <a:rPr lang="en-US" sz="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P10-P90 | Barra escura = P25-P75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479727" y="2543919"/>
            <a:ext cx="4378523" cy="914400"/>
          </a:xfrm>
          <a:prstGeom prst="roundRect">
            <a:avLst>
              <a:gd name="adj" fmla="val 666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613077" y="2658219"/>
            <a:ext cx="41940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PROBABILIDADES AJUSTADAS 2030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13077" y="2867769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R$ 1M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481268" y="2867769"/>
            <a:ext cx="248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613077" y="3039219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R$ 2M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34251" y="3039219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613077" y="3210669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R$ 3M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34251" y="3210669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479727" y="3553569"/>
            <a:ext cx="4378523" cy="1019175"/>
          </a:xfrm>
          <a:prstGeom prst="roundRect">
            <a:avLst>
              <a:gd name="adj" fmla="val 5981"/>
            </a:avLst>
          </a:prstGeom>
          <a:solidFill>
            <a:srgbClr val="E8F6F3"/>
          </a:solidFill>
          <a:ln w="9525">
            <a:solidFill>
              <a:srgbClr val="A3E4D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603552" y="3658344"/>
            <a:ext cx="42134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MITIGAÇÃO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03552" y="3848844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731097" y="3848844"/>
            <a:ext cx="121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emergência 6+ meses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4603552" y="4010769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31097" y="4010769"/>
            <a:ext cx="10764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Diversificar para 3+ clientes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4603552" y="4172694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731097" y="4172694"/>
            <a:ext cx="11468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cambial (manter USD)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4603552" y="4334619"/>
            <a:ext cx="8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731097" y="4334619"/>
            <a:ext cx="5297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ativo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4479727" y="4667994"/>
            <a:ext cx="4378523" cy="285750"/>
          </a:xfrm>
          <a:prstGeom prst="roundRect">
            <a:avLst>
              <a:gd name="adj" fmla="val 21333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552527" y="4744194"/>
            <a:ext cx="4232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no pior cenário (P5)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patrimônio 2030 ≥ R$ 1.86M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Caixa Mensal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8952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 e para onde vai cada real (mês típico 2026)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107281"/>
            <a:ext cx="8572500" cy="3288953"/>
          </a:xfrm>
          <a:prstGeom prst="roundRect">
            <a:avLst>
              <a:gd name="adj" fmla="val 1853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svg-626e65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307306"/>
            <a:ext cx="8172450" cy="28889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5750" y="4510534"/>
            <a:ext cx="2071688" cy="464641"/>
          </a:xfrm>
          <a:prstGeom prst="roundRect">
            <a:avLst>
              <a:gd name="adj" fmla="val 1312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1619" y="4586734"/>
            <a:ext cx="18799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81619" y="4712345"/>
            <a:ext cx="18799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R$ 72.000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52688" y="4510534"/>
            <a:ext cx="2071688" cy="464641"/>
          </a:xfrm>
          <a:prstGeom prst="roundRect">
            <a:avLst>
              <a:gd name="adj" fmla="val 1312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548557" y="4586734"/>
            <a:ext cx="18799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548557" y="4712345"/>
            <a:ext cx="18799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R$ 17.000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5494" y="4586734"/>
            <a:ext cx="18799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15494" y="4712345"/>
            <a:ext cx="18799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R$ 20.000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786563" y="4510534"/>
            <a:ext cx="2071688" cy="464641"/>
          </a:xfrm>
          <a:prstGeom prst="roundRect">
            <a:avLst>
              <a:gd name="adj" fmla="val 1312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82432" y="4586734"/>
            <a:ext cx="18799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882432" y="4712345"/>
            <a:ext cx="18799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R$ 35.000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50/30/20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712440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orçamento mensal adaptado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201341"/>
            <a:ext cx="3797647" cy="815132"/>
          </a:xfrm>
          <a:prstGeom prst="roundRect">
            <a:avLst>
              <a:gd name="adj" fmla="val 7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14313" y="1201341"/>
            <a:ext cx="0" cy="815132"/>
          </a:xfrm>
          <a:prstGeom prst="line">
            <a:avLst/>
          </a:prstGeom>
          <a:noFill/>
          <a:ln w="47625">
            <a:solidFill>
              <a:srgbClr val="0D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0525" y="1334691"/>
            <a:ext cx="8426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Necessidades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90525" y="1526977"/>
            <a:ext cx="8426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da receita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780705" y="1344067"/>
            <a:ext cx="10761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R$ 27.500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0525" y="1749772"/>
            <a:ext cx="351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Moradia, alimentação, transporte, saúde, contas essenciais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500" y="2130772"/>
            <a:ext cx="3797647" cy="815132"/>
          </a:xfrm>
          <a:prstGeom prst="roundRect">
            <a:avLst>
              <a:gd name="adj" fmla="val 7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14313" y="2130772"/>
            <a:ext cx="0" cy="815132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525" y="2264122"/>
            <a:ext cx="7130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Desejos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90525" y="2456408"/>
            <a:ext cx="713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da receita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780705" y="2273498"/>
            <a:ext cx="10761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R$ 16.500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0525" y="2679204"/>
            <a:ext cx="351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Lazer, compras não-essenciais, assinaturas extras, viagens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0500" y="3060204"/>
            <a:ext cx="3797647" cy="815132"/>
          </a:xfrm>
          <a:prstGeom prst="roundRect">
            <a:avLst>
              <a:gd name="adj" fmla="val 7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4313" y="3060204"/>
            <a:ext cx="0" cy="81513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525" y="3193554"/>
            <a:ext cx="16142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 &amp; Investimentos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90525" y="3385840"/>
            <a:ext cx="16142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mínimo (meta: 35%)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659856" y="3202930"/>
            <a:ext cx="11994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R$ 11.000+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0525" y="3608636"/>
            <a:ext cx="351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Reserva, investimentos, previdência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0500" y="4027736"/>
            <a:ext cx="3797647" cy="723751"/>
          </a:xfrm>
          <a:prstGeom prst="roundRect">
            <a:avLst>
              <a:gd name="adj" fmla="val 8423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2900" y="4161086"/>
            <a:ext cx="35627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Janeiro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" y="4378226"/>
            <a:ext cx="12926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Poupança: 30%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17652" y="4435376"/>
            <a:ext cx="7324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atingida!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16747" y="1514773"/>
            <a:ext cx="4641503" cy="2923431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78672" y="1676698"/>
            <a:ext cx="44040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de Gastos Variáveis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378672" y="1964234"/>
            <a:ext cx="4404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mensal: R$ 19.800 (exclui obra e esportes)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78672" y="2192834"/>
            <a:ext cx="6207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Transporte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8270974" y="2192834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R$ 4.000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78672" y="2368004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78672" y="2368004"/>
            <a:ext cx="3626793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78672" y="2501354"/>
            <a:ext cx="4189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Saúde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270974" y="2501354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R$ 4.000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378672" y="2676525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78672" y="2676525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78672" y="2809875"/>
            <a:ext cx="6920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 Alimentação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8270974" y="2809875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R$ 3.500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378672" y="2985046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78672" y="2985046"/>
            <a:ext cx="3756273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78672" y="3118396"/>
            <a:ext cx="6623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Assinaturas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270974" y="3118396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R$ 3.500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378672" y="3293566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378672" y="3293566"/>
            <a:ext cx="3756273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378672" y="3426916"/>
            <a:ext cx="5434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Compras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8270974" y="3426916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R$ 2.500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4378672" y="3602087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78672" y="3602087"/>
            <a:ext cx="2676823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78672" y="3735437"/>
            <a:ext cx="3772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Lazer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8270974" y="3735437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R$ 1.500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4378672" y="3910608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378672" y="3910608"/>
            <a:ext cx="1597521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378672" y="4043958"/>
            <a:ext cx="1355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Educação + Casa + Taxas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8358336" y="4043958"/>
            <a:ext cx="344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R$ 800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4378672" y="4219129"/>
            <a:ext cx="4317653" cy="5715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378672" y="4219129"/>
            <a:ext cx="863501" cy="57150"/>
          </a:xfrm>
          <a:prstGeom prst="roundRect">
            <a:avLst>
              <a:gd name="adj" fmla="val 5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Caixa Mensal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712440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poupança ao longo do ano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637014" y="1192262"/>
            <a:ext cx="3221236" cy="1095226"/>
          </a:xfrm>
          <a:prstGeom prst="roundRect">
            <a:avLst>
              <a:gd name="adj" fmla="val 5566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89414" y="1325612"/>
            <a:ext cx="29747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 Anual Projetada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89414" y="1542752"/>
            <a:ext cx="297476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R$ 220K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789414" y="2007543"/>
            <a:ext cx="29747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R$ 11K-36K/mês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37014" y="2401788"/>
            <a:ext cx="3221236" cy="1101923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98939" y="2544663"/>
            <a:ext cx="29553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do Ano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98939" y="283800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2289" y="2799904"/>
            <a:ext cx="2221510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Mês mais apertado (R$ 6K poupança)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98939" y="3050381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32289" y="3012281"/>
            <a:ext cx="1918508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Nov-Dez</a:t>
            </a:r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Melhores meses (R$ 30-36K)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98939" y="326275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2289" y="3224659"/>
            <a:ext cx="2144089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Fim dos parcelamentos de móveis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637014" y="3618012"/>
            <a:ext cx="3221236" cy="1237804"/>
          </a:xfrm>
          <a:prstGeom prst="roundRect">
            <a:avLst>
              <a:gd name="adj" fmla="val 4925"/>
            </a:avLst>
          </a:prstGeom>
          <a:solidFill>
            <a:srgbClr val="F0ED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70364" y="3732312"/>
            <a:ext cx="30136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TÍPICAS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70364" y="3955107"/>
            <a:ext cx="43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241357" y="3955107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R$ 16.500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70364" y="4139803"/>
            <a:ext cx="712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Parcelamentos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8241357" y="4139803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R$ 14.000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770364" y="4324499"/>
            <a:ext cx="2377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8299549" y="4324499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R$ 7.000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5770364" y="4552057"/>
            <a:ext cx="2954536" cy="0"/>
          </a:xfrm>
          <a:prstGeom prst="line">
            <a:avLst/>
          </a:prstGeom>
          <a:noFill/>
          <a:ln w="9525">
            <a:solidFill>
              <a:srgbClr val="D4CF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0364" y="4594920"/>
            <a:ext cx="8021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Poupança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241357" y="4594920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R$ 17.500</a:t>
            </a:r>
            <a:endParaRPr lang="en-US" sz="825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190500" y="1190476"/>
          <a:ext cx="5256014" cy="366727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na Casa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712440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R$ 207K (Total com 2025: R$ 437K)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479500"/>
            <a:ext cx="4257675" cy="2224385"/>
          </a:xfrm>
          <a:prstGeom prst="roundRect">
            <a:avLst>
              <a:gd name="adj" fmla="val 2741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425" y="1649016"/>
            <a:ext cx="4573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Obra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94931" y="1622375"/>
            <a:ext cx="80714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R$ 80.940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2425" y="197658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INTERNAS (ATÉ JUNHO)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52425" y="2186136"/>
            <a:ext cx="8554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Elétrica 2 Quartos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60899" y="2186136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R$ 3.590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52425" y="2380357"/>
            <a:ext cx="481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80m²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60899" y="2380357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R$ 6.000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52425" y="2574578"/>
            <a:ext cx="1069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Acabamentos Internos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02707" y="2574578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R$ 13.000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2425" y="281642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EXTERNAS (JUL-NOV)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2425" y="3025973"/>
            <a:ext cx="10693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Pintura Externa 200m²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02707" y="3025973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R$ 24.500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52425" y="3220194"/>
            <a:ext cx="998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Acabamento Externo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02707" y="3220194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R$ 28.000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52425" y="3414415"/>
            <a:ext cx="926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Cumaru 18m²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60899" y="3414415"/>
            <a:ext cx="433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R$ 5.850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00575" y="1556445"/>
            <a:ext cx="4257675" cy="2070348"/>
          </a:xfrm>
          <a:prstGeom prst="roundRect">
            <a:avLst>
              <a:gd name="adj" fmla="val 2944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1725960"/>
            <a:ext cx="1213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🛋️ Móveis e Eletros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09756" y="1699320"/>
            <a:ext cx="9043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R$ 126.000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62500" y="2053530"/>
            <a:ext cx="95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 Planejados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944892" y="2053530"/>
            <a:ext cx="7664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R$ 95.000 (10x)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62500" y="2238226"/>
            <a:ext cx="3933825" cy="7620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2500" y="2238226"/>
            <a:ext cx="393353" cy="76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233347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 pago - R$ 9.500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62500" y="2562076"/>
            <a:ext cx="9298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+ 6 Cadeiras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7944892" y="2562076"/>
            <a:ext cx="7664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R$ 16.000 (10x)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62500" y="2746772"/>
            <a:ext cx="3933825" cy="7620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62500" y="2842022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Início: Janeiro - Término: Outubro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62500" y="3070622"/>
            <a:ext cx="8968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Eletrodomésticos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003232" y="3070622"/>
            <a:ext cx="7069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R$ 15.000 (6x)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62500" y="3255318"/>
            <a:ext cx="3933825" cy="76200"/>
          </a:xfrm>
          <a:prstGeom prst="roundRect">
            <a:avLst>
              <a:gd name="adj" fmla="val 50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62500" y="3350568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Início: Setembro - Término: Fev/2027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0500" y="4126260"/>
            <a:ext cx="8667750" cy="731490"/>
          </a:xfrm>
          <a:prstGeom prst="roundRect">
            <a:avLst>
              <a:gd name="adj" fmla="val 8334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2312" y="4335810"/>
            <a:ext cx="401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JAN-MAI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2312" y="4488210"/>
            <a:ext cx="4016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74849" y="43585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670149" y="4278660"/>
            <a:ext cx="857250" cy="426690"/>
          </a:xfrm>
          <a:prstGeom prst="roundRect">
            <a:avLst>
              <a:gd name="adj" fmla="val 13394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97594" y="4335810"/>
            <a:ext cx="602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797594" y="4488210"/>
            <a:ext cx="6023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32199" y="43585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323179" y="4335810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JUL-OUT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23179" y="4488210"/>
            <a:ext cx="4406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64347" y="435858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54090" y="4335810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54090" y="4488210"/>
            <a:ext cx="5668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02890" y="4322415"/>
            <a:ext cx="6696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Completa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902890" y="4474815"/>
            <a:ext cx="6696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Projeção Monte Carlo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70857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com 10.000 cenários (começando de R$ 0)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171873"/>
            <a:ext cx="3789015" cy="2056656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1314748"/>
            <a:ext cx="35344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47675" y="1602284"/>
            <a:ext cx="8138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Inicial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91384" y="1602284"/>
            <a:ext cx="2258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47675" y="1825079"/>
            <a:ext cx="7367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429298" y="1825079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R$ 55.000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47675" y="2047875"/>
            <a:ext cx="8435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Gastos Base/mês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429298" y="2047875"/>
            <a:ext cx="4932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R$ 20.000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47675" y="2270671"/>
            <a:ext cx="12326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2026 (obra+móveis)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70957" y="2270671"/>
            <a:ext cx="5527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R$ 207.000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47675" y="2493466"/>
            <a:ext cx="867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Esperado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99247" y="2493466"/>
            <a:ext cx="421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a.a.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47675" y="2716262"/>
            <a:ext cx="5468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Volatilidade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702993" y="2716262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47675" y="2939058"/>
            <a:ext cx="10275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Receita (churn)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487638" y="2939058"/>
            <a:ext cx="4337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20%/ano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85750" y="3304729"/>
            <a:ext cx="3789015" cy="881955"/>
          </a:xfrm>
          <a:prstGeom prst="roundRect">
            <a:avLst>
              <a:gd name="adj" fmla="val 6912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9100" y="3419029"/>
            <a:ext cx="3592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FIM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9100" y="3590479"/>
            <a:ext cx="35927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R$ 275K - 410K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9100" y="3939034"/>
            <a:ext cx="3592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P25-P75 | Mediana: R$ 341K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85750" y="4262884"/>
            <a:ext cx="3789015" cy="666750"/>
          </a:xfrm>
          <a:prstGeom prst="roundRect">
            <a:avLst>
              <a:gd name="adj" fmla="val 9143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9100" y="4358134"/>
            <a:ext cx="3592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Probabilidades 2030 (com risco)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9100" y="4548634"/>
            <a:ext cx="36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R$ 1M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97784" y="4548634"/>
            <a:ext cx="248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9100" y="4701034"/>
            <a:ext cx="366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R$ 2M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50766" y="4701034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27165" y="1625054"/>
            <a:ext cx="4631085" cy="2851249"/>
          </a:xfrm>
          <a:prstGeom prst="roundRect">
            <a:avLst>
              <a:gd name="adj" fmla="val 2138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389090" y="1786979"/>
            <a:ext cx="43933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5 Anos (2026-2030)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380518" y="2093565"/>
            <a:ext cx="437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912965" y="211261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03465" y="2093565"/>
            <a:ext cx="318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+ Casa Nova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03465" y="2236440"/>
            <a:ext cx="31841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Investindo R$ 207K na casa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8320385" y="2093565"/>
            <a:ext cx="38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R$ 341K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0518" y="2451646"/>
            <a:ext cx="437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912965" y="2470696"/>
            <a:ext cx="95250" cy="95250"/>
          </a:xfrm>
          <a:prstGeom prst="roundRect">
            <a:avLst>
              <a:gd name="adj" fmla="val 960000"/>
            </a:avLst>
          </a:prstGeom>
          <a:solidFill>
            <a:srgbClr val="D4CF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03465" y="2451646"/>
            <a:ext cx="318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03465" y="2594521"/>
            <a:ext cx="31841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gastos de obra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8320385" y="2451646"/>
            <a:ext cx="38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R$ 937K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80518" y="2809726"/>
            <a:ext cx="437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912965" y="2828776"/>
            <a:ext cx="95250" cy="95250"/>
          </a:xfrm>
          <a:prstGeom prst="roundRect">
            <a:avLst>
              <a:gd name="adj" fmla="val 960000"/>
            </a:avLst>
          </a:prstGeom>
          <a:solidFill>
            <a:srgbClr val="D4CF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03465" y="2809726"/>
            <a:ext cx="3146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Milhão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03465" y="2952601"/>
            <a:ext cx="31463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Juros compostos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8283327" y="2809726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R$ 1.62M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380518" y="3167807"/>
            <a:ext cx="437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4912965" y="3186857"/>
            <a:ext cx="95250" cy="95250"/>
          </a:xfrm>
          <a:prstGeom prst="roundRect">
            <a:avLst>
              <a:gd name="adj" fmla="val 960000"/>
            </a:avLst>
          </a:prstGeom>
          <a:solidFill>
            <a:srgbClr val="D4CF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03465" y="3167807"/>
            <a:ext cx="3146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03465" y="3310682"/>
            <a:ext cx="31463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Diversificação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8283327" y="3167807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R$ 2.35M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380518" y="3525887"/>
            <a:ext cx="437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4912965" y="3544937"/>
            <a:ext cx="95250" cy="95250"/>
          </a:xfrm>
          <a:prstGeom prst="roundRect">
            <a:avLst>
              <a:gd name="adj" fmla="val 96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103465" y="3525887"/>
            <a:ext cx="3146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103465" y="3668762"/>
            <a:ext cx="31463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Independência financeira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8283327" y="3525887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389090" y="3883968"/>
            <a:ext cx="4307235" cy="430411"/>
          </a:xfrm>
          <a:prstGeom prst="roundRect">
            <a:avLst>
              <a:gd name="adj" fmla="val 13278"/>
            </a:avLst>
          </a:prstGeom>
          <a:solidFill>
            <a:srgbClr val="F0ED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484340" y="3960168"/>
            <a:ext cx="41990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MONTE CARLO 2030 (COM RISCO RECEITA)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4484340" y="4118223"/>
            <a:ext cx="5103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R$ 2.1M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5099000" y="4118223"/>
            <a:ext cx="5103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R$ 3.2M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5713661" y="4118223"/>
            <a:ext cx="5103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R$ 4.4M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Visualização Monte Carlo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8952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cenários e evolução patrimonial (10.000 simulações)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234380"/>
            <a:ext cx="4610100" cy="3613696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1396305"/>
            <a:ext cx="43719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do Patrimônio (2026-2030)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76300" y="4328071"/>
            <a:ext cx="3857625" cy="0"/>
          </a:xfrm>
          <a:prstGeom prst="line">
            <a:avLst/>
          </a:prstGeom>
          <a:noFill/>
          <a:ln w="19050">
            <a:solidFill>
              <a:srgbClr val="E8E4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25" y="1670596"/>
            <a:ext cx="0" cy="2667000"/>
          </a:xfrm>
          <a:prstGeom prst="line">
            <a:avLst/>
          </a:prstGeom>
          <a:noFill/>
          <a:ln w="19050">
            <a:solidFill>
              <a:srgbClr val="E8E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9100" y="1622971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R$ 2.5M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19100" y="2194471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R$ 2.0M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19100" y="2765971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R$ 1.5M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19100" y="3337471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R$ 1.0M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19100" y="3908971"/>
            <a:ext cx="3304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R$ 0.5M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19100" y="4223296"/>
            <a:ext cx="184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675" dirty="0"/>
          </a:p>
        </p:txBody>
      </p:sp>
      <p:pic>
        <p:nvPicPr>
          <p:cNvPr id="14" name="Image 0" descr="/tmp/rasterized-svg-eb5606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670596"/>
            <a:ext cx="3838575" cy="26479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0100" y="43756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657350" y="43756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14600" y="43756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71850" y="43756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229100" y="4375696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42975" y="4032796"/>
            <a:ext cx="3452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R$ 185K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48100" y="2432596"/>
            <a:ext cx="3792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R$ 2.23M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1654522" y="4611886"/>
            <a:ext cx="190500" cy="28575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902172" y="4566196"/>
            <a:ext cx="5929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(50%)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2673995" y="4578548"/>
            <a:ext cx="190500" cy="95250"/>
          </a:xfrm>
          <a:prstGeom prst="roundRect">
            <a:avLst>
              <a:gd name="adj" fmla="val 20000"/>
            </a:avLst>
          </a:prstGeom>
          <a:solidFill>
            <a:srgbClr val="0D5C6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921645" y="4566196"/>
            <a:ext cx="6173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25%-75%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5086350" y="1312515"/>
            <a:ext cx="3771900" cy="1099096"/>
          </a:xfrm>
          <a:prstGeom prst="roundRect">
            <a:avLst>
              <a:gd name="adj" fmla="val 5546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248275" y="1455390"/>
            <a:ext cx="35170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2030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5237797" y="1713458"/>
            <a:ext cx="5343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R$ 1-2M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848350" y="1697236"/>
            <a:ext cx="2486025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48350" y="1697236"/>
            <a:ext cx="770632" cy="1524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410575" y="1713458"/>
            <a:ext cx="2914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5237797" y="1923008"/>
            <a:ext cx="5343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R$ 2-3M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848350" y="1906786"/>
            <a:ext cx="2486025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848350" y="1906786"/>
            <a:ext cx="1491555" cy="152400"/>
          </a:xfrm>
          <a:prstGeom prst="rect">
            <a:avLst/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8410575" y="1923008"/>
            <a:ext cx="2914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5237797" y="2132558"/>
            <a:ext cx="53435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R$ 3M+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5848350" y="2116336"/>
            <a:ext cx="2486025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848350" y="2116336"/>
            <a:ext cx="223689" cy="1524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410575" y="2132558"/>
            <a:ext cx="2914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5086350" y="2525911"/>
            <a:ext cx="3771900" cy="1318171"/>
          </a:xfrm>
          <a:prstGeom prst="roundRect">
            <a:avLst>
              <a:gd name="adj" fmla="val 4625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238750" y="2659261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Probabilidades de Sucesso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5238750" y="2901107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R$ 1M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8462218" y="2901107"/>
            <a:ext cx="248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5238750" y="3063032"/>
            <a:ext cx="34671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238750" y="3063032"/>
            <a:ext cx="3467100" cy="571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238750" y="3196382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R$ 2M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515201" y="3196382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238750" y="3358307"/>
            <a:ext cx="34671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238750" y="3358307"/>
            <a:ext cx="2392263" cy="5715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238750" y="3491657"/>
            <a:ext cx="691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Alcançar R$ 3M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8568184" y="3491657"/>
            <a:ext cx="140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5238750" y="3653582"/>
            <a:ext cx="34671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238750" y="3653582"/>
            <a:ext cx="311944" cy="571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086350" y="3958382"/>
            <a:ext cx="3771900" cy="811411"/>
          </a:xfrm>
          <a:prstGeom prst="roundRect">
            <a:avLst>
              <a:gd name="adj" fmla="val 7513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219700" y="4072682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MAIS PROVÁVEL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5219700" y="4244132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R$ 2.0 - 2.6M</a:t>
            </a:r>
            <a:endParaRPr lang="en-US" sz="1350" dirty="0"/>
          </a:p>
        </p:txBody>
      </p:sp>
      <p:sp>
        <p:nvSpPr>
          <p:cNvPr id="57" name="Text 54"/>
          <p:cNvSpPr/>
          <p:nvPr/>
        </p:nvSpPr>
        <p:spPr>
          <a:xfrm>
            <a:off x="5219700" y="4522143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2030 (intervalo 25%-75%)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Sensibilidade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8952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da taxa de poupança no patrimônio 2030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498253"/>
            <a:ext cx="4610100" cy="777180"/>
          </a:xfrm>
          <a:prstGeom prst="roundRect">
            <a:avLst>
              <a:gd name="adj" fmla="val 7844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631603"/>
            <a:ext cx="1539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ATUAL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50" y="1803053"/>
            <a:ext cx="15396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Poupança: 64%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150" y="2008733"/>
            <a:ext cx="1539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R$ 35K poupança / R$ 55K receita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32431" y="1650653"/>
            <a:ext cx="10110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32431" y="1989683"/>
            <a:ext cx="1011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2030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5750" y="2389733"/>
            <a:ext cx="4610100" cy="2194471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" y="2532608"/>
            <a:ext cx="43719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Cenários (P50 - 2030)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7675" y="2988766"/>
            <a:ext cx="4286250" cy="0"/>
          </a:xfrm>
          <a:prstGeom prst="line">
            <a:avLst/>
          </a:prstGeom>
          <a:noFill/>
          <a:ln w="9525">
            <a:solidFill>
              <a:srgbClr val="E8E4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675" y="2806898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90625" y="2806898"/>
            <a:ext cx="777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POUPANÇA/MÊS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028825" y="2806898"/>
            <a:ext cx="20013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2030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053840" y="2806898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ATUAL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47675" y="3129707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190625" y="313640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R$ 27.500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028825" y="31268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28825" y="3126879"/>
            <a:ext cx="818704" cy="152400"/>
          </a:xfrm>
          <a:prstGeom prst="roundRect">
            <a:avLst>
              <a:gd name="adj" fmla="val 1875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93604" y="3069729"/>
            <a:ext cx="405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R$ 1.73M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53840" y="3136404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-45%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47675" y="3472607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190625" y="347930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R$ 33.000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28825" y="34697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28825" y="3469779"/>
            <a:ext cx="1012180" cy="152400"/>
          </a:xfrm>
          <a:prstGeom prst="roundRect">
            <a:avLst>
              <a:gd name="adj" fmla="val 18750"/>
            </a:avLst>
          </a:prstGeom>
          <a:solidFill>
            <a:srgbClr val="7FB3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93604" y="3412629"/>
            <a:ext cx="405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R$ 2.14M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53840" y="3479304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1475" y="3755529"/>
            <a:ext cx="4438650" cy="342900"/>
          </a:xfrm>
          <a:prstGeom prst="roundRect">
            <a:avLst>
              <a:gd name="adj" fmla="val 11111"/>
            </a:avLst>
          </a:prstGeom>
          <a:solidFill>
            <a:srgbClr val="F0ED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7675" y="3853607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✓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90625" y="386030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R$ 35.000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28825" y="38507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D4E6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028825" y="38507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93604" y="3793629"/>
            <a:ext cx="405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53840" y="3860304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47675" y="4234607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190625" y="4241304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R$ 38.500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028825" y="42317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028825" y="4231779"/>
            <a:ext cx="1488579" cy="152400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386435" y="4231779"/>
            <a:ext cx="178594" cy="1524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93604" y="4174629"/>
            <a:ext cx="405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R$ 3.52M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53840" y="4241304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86350" y="1352699"/>
            <a:ext cx="3771900" cy="849511"/>
          </a:xfrm>
          <a:prstGeom prst="roundRect">
            <a:avLst>
              <a:gd name="adj" fmla="val 7176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38750" y="1486049"/>
            <a:ext cx="353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PRINCIPAL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238750" y="1695599"/>
            <a:ext cx="353644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</a:t>
            </a:r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a mais</a:t>
            </a:r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taxa de poupança adiciona </a:t>
            </a:r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~R$ 350K</a:t>
            </a:r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 patrimônio em 5 anos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86350" y="2316510"/>
            <a:ext cx="3771900" cy="1936998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48275" y="2459385"/>
            <a:ext cx="35170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48275" y="2714625"/>
            <a:ext cx="351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Aumentar para 70%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48275" y="2876550"/>
            <a:ext cx="35170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 cortar R$ 3.500/mês em gastos.</a:t>
            </a:r>
            <a:endParaRPr lang="en-US" sz="675" dirty="0"/>
          </a:p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Benefício: +R$ 360K em 5 anos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5248275" y="3211711"/>
            <a:ext cx="351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Reduzir para 60%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248275" y="3373636"/>
            <a:ext cx="35170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R$ 2.000/mês para qualidade de vida.</a:t>
            </a:r>
            <a:endParaRPr lang="en-US" sz="675" dirty="0"/>
          </a:p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Custo: -R$ 1.02M em 5 anos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5248275" y="3708797"/>
            <a:ext cx="351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Manter 64% (atual)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48275" y="3870722"/>
            <a:ext cx="35170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Equilibra crescimento patrimonial</a:t>
            </a:r>
            <a:endParaRPr lang="en-US" sz="675" dirty="0"/>
          </a:p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qualidade de vida atual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5086350" y="4367808"/>
            <a:ext cx="3771900" cy="361950"/>
          </a:xfrm>
          <a:prstGeom prst="roundRect">
            <a:avLst>
              <a:gd name="adj" fmla="val 1684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184648" y="4482108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Manter 64% e revisar anualmente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49827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Independência Financeira (FIRE)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689521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baseada na regra dos 4% (Safe Withdrawal Rate)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85750" y="1244947"/>
            <a:ext cx="4191000" cy="1198066"/>
          </a:xfrm>
          <a:prstGeom prst="roundRect">
            <a:avLst>
              <a:gd name="adj" fmla="val 5088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9734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NÚMERO FIRE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606897"/>
            <a:ext cx="392506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R$ 6.000.000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214401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necessário para gerar R$ 20K/mês (4% a.a.)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85750" y="2557314"/>
            <a:ext cx="4191000" cy="126489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675" y="270018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a Regra dos 4%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7675" y="295542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6434" y="298400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3425" y="2955429"/>
            <a:ext cx="225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 seus gastos anuais: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R$ 240K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(R$ 20K × 12)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7675" y="322212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6434" y="325070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3425" y="3222129"/>
            <a:ext cx="17955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Multiplique por 25: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R$ 6M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número FIRE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7675" y="348882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6434" y="351740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3425" y="3488829"/>
            <a:ext cx="2414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 4% ao ano sustenta o patrimônio indefinidamente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5750" y="3936504"/>
            <a:ext cx="4191000" cy="901005"/>
          </a:xfrm>
          <a:prstGeom prst="roundRect">
            <a:avLst>
              <a:gd name="adj" fmla="val 6766"/>
            </a:avLst>
          </a:prstGeom>
          <a:solidFill>
            <a:srgbClr val="E8F6F3"/>
          </a:solidFill>
          <a:ln w="9525">
            <a:solidFill>
              <a:srgbClr val="A3E4D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7675" y="407937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PROJETADO 2030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7675" y="4288929"/>
            <a:ext cx="3867150" cy="228600"/>
          </a:xfrm>
          <a:prstGeom prst="roundRect">
            <a:avLst>
              <a:gd name="adj" fmla="val 25000"/>
            </a:avLst>
          </a:prstGeom>
          <a:solidFill>
            <a:srgbClr val="D4E6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7675" y="4288929"/>
            <a:ext cx="2037904" cy="22860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32645" y="4329931"/>
            <a:ext cx="3031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52.7%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47675" y="4574679"/>
            <a:ext cx="4617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 (2026)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021532" y="4574679"/>
            <a:ext cx="6562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 (2030)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786039" y="4574679"/>
            <a:ext cx="5393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R$ 6M (FIRE)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67250" y="1405086"/>
            <a:ext cx="4191000" cy="2120057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9175" y="1547961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até FIRE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9175" y="183177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05425" y="1822252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05425" y="1822252"/>
            <a:ext cx="149721" cy="152400"/>
          </a:xfrm>
          <a:prstGeom prst="roundRect">
            <a:avLst>
              <a:gd name="adj" fmla="val 25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6240" y="1838474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R$ 341K </a:t>
            </a:r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(5.7%)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29175" y="207942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05425" y="2069902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425" y="2069902"/>
            <a:ext cx="709761" cy="152400"/>
          </a:xfrm>
          <a:prstGeom prst="roundRect">
            <a:avLst>
              <a:gd name="adj" fmla="val 25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16240" y="2086124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R$ 1.62M </a:t>
            </a:r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(27%)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829175" y="237083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05425" y="2361307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05425" y="2361307"/>
            <a:ext cx="1385292" cy="15240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16240" y="2317552"/>
            <a:ext cx="6800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 </a:t>
            </a:r>
            <a:pPr algn="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(52.7%)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829175" y="266223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05425" y="2652713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E8E4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05425" y="2652713"/>
            <a:ext cx="2050405" cy="152400"/>
          </a:xfrm>
          <a:prstGeom prst="roundRect">
            <a:avLst>
              <a:gd name="adj" fmla="val 25000"/>
            </a:avLst>
          </a:prstGeom>
          <a:solidFill>
            <a:srgbClr val="7FB3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016240" y="2668935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R$ 4.7M </a:t>
            </a:r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(78%)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752975" y="2900363"/>
            <a:ext cx="4019550" cy="266700"/>
          </a:xfrm>
          <a:prstGeom prst="roundRect">
            <a:avLst>
              <a:gd name="adj" fmla="val 21429"/>
            </a:avLst>
          </a:prstGeom>
          <a:solidFill>
            <a:srgbClr val="FFF8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29175" y="296703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5425" y="2957513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F5E6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305425" y="2957513"/>
            <a:ext cx="2628900" cy="15240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016240" y="2973735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R$ 6M+ 🎉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4790504" y="326231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assume manutenção da taxa de poupança atual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4667250" y="3639443"/>
            <a:ext cx="4191000" cy="1037927"/>
          </a:xfrm>
          <a:prstGeom prst="roundRect">
            <a:avLst>
              <a:gd name="adj" fmla="val 5873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819650" y="3863132"/>
            <a:ext cx="1409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INDEPENDÊNCIA FINANCEIRA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19650" y="4034582"/>
            <a:ext cx="14090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anos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819650" y="4320332"/>
            <a:ext cx="1409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Previsão: 2033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151459" y="3772793"/>
            <a:ext cx="5543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8151459" y="4184154"/>
            <a:ext cx="55439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675" dirty="0"/>
          </a:p>
          <a:p>
            <a:pPr algn="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endParaRPr lang="en-US" sz="675" dirty="0"/>
          </a:p>
          <a:p>
            <a:pPr algn="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Early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Marcos do Ano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712440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de conquistas e entregas 2026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731764"/>
            <a:ext cx="2052340" cy="1316087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425" y="1874639"/>
            <a:ext cx="900708" cy="222796"/>
          </a:xfrm>
          <a:prstGeom prst="roundRect">
            <a:avLst>
              <a:gd name="adj" fmla="val 17101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7675" y="1912739"/>
            <a:ext cx="724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 JAN/MAR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52425" y="2192685"/>
            <a:ext cx="956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3337" y="2192685"/>
            <a:ext cx="7426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Elétrica quartos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52425" y="245551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9587" y="2455515"/>
            <a:ext cx="481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80m²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52425" y="2718346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9587" y="2718346"/>
            <a:ext cx="9981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pintura externa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395240" y="1722239"/>
            <a:ext cx="2053530" cy="1335137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66690" y="1874639"/>
            <a:ext cx="885230" cy="222796"/>
          </a:xfrm>
          <a:prstGeom prst="roundRect">
            <a:avLst>
              <a:gd name="adj" fmla="val 17101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61940" y="1912739"/>
            <a:ext cx="7086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Q2 - ABR/JUN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66690" y="219268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23852" y="2192685"/>
            <a:ext cx="1063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Acabamentos internos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566690" y="245551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🛋️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23852" y="2455515"/>
            <a:ext cx="8494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 instalados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566690" y="2718346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🏡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23852" y="2718346"/>
            <a:ext cx="587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MUDANÇA!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01170" y="1731764"/>
            <a:ext cx="2052340" cy="1316087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3095" y="1874639"/>
            <a:ext cx="854273" cy="222796"/>
          </a:xfrm>
          <a:prstGeom prst="roundRect">
            <a:avLst>
              <a:gd name="adj" fmla="val 17101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8345" y="1912739"/>
            <a:ext cx="677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JUL/SET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63095" y="219268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20258" y="2192685"/>
            <a:ext cx="8258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Pintura concluída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63095" y="245551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20258" y="2455515"/>
            <a:ext cx="10931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Acabamentos externos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63095" y="2718346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20258" y="2718346"/>
            <a:ext cx="7306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eletros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05910" y="1731764"/>
            <a:ext cx="2052340" cy="1316087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9525">
            <a:solidFill>
              <a:srgbClr val="D4CF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67835" y="1874639"/>
            <a:ext cx="883295" cy="222796"/>
          </a:xfrm>
          <a:prstGeom prst="roundRect">
            <a:avLst>
              <a:gd name="adj" fmla="val 1710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63085" y="1912739"/>
            <a:ext cx="7066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Q4 - OUT/DEZ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967835" y="219268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24998" y="2192685"/>
            <a:ext cx="6533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Cumaru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967835" y="2455515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24998" y="2455515"/>
            <a:ext cx="9088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parcelamentos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967835" y="2718346"/>
            <a:ext cx="1020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24998" y="2718346"/>
            <a:ext cx="9559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COMPLETA!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90500" y="3741539"/>
            <a:ext cx="8667750" cy="1116211"/>
          </a:xfrm>
          <a:prstGeom prst="roundRect">
            <a:avLst>
              <a:gd name="adj" fmla="val 5461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6250" y="3893939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FINANCEIROS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5911" y="4168229"/>
            <a:ext cx="10545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PARCELAMENTOS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5911" y="4339679"/>
            <a:ext cx="10545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Outubro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5911" y="4572000"/>
            <a:ext cx="10545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-R$ 9.400/mês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4030" y="4198590"/>
            <a:ext cx="0" cy="4762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68286" y="4168229"/>
            <a:ext cx="980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POUPANÇA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968286" y="4339679"/>
            <a:ext cx="9808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Nov-Dez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968286" y="4572000"/>
            <a:ext cx="980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R$ 30-36K/mês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73352" y="4198590"/>
            <a:ext cx="0" cy="4762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8544" y="4168229"/>
            <a:ext cx="8853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PATRIMÔNIO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8544" y="4339679"/>
            <a:ext cx="885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R$ 341K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8544" y="4572000"/>
            <a:ext cx="8853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(com risco)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009061" y="4198590"/>
            <a:ext cx="0" cy="4762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34644" y="4168229"/>
            <a:ext cx="845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2030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34644" y="4339679"/>
            <a:ext cx="845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R$ 3.16M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34644" y="4572000"/>
            <a:ext cx="845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anos despesas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57150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526887" y="820936"/>
            <a:ext cx="40902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spcBef>
                <a:spcPts val="600"/>
              </a:spcBef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2026: O Ano da Casa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1500" y="190604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6756" y="1995636"/>
            <a:ext cx="1311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23950" y="1886099"/>
            <a:ext cx="100995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R$ 207K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3950" y="2198489"/>
            <a:ext cx="10099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na casa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251742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6756" y="2607022"/>
            <a:ext cx="1311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23950" y="2497485"/>
            <a:ext cx="95667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R$ 220K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23950" y="2809875"/>
            <a:ext cx="9566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Poupança projetada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3128814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6756" y="3218408"/>
            <a:ext cx="1311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3950" y="3108871"/>
            <a:ext cx="84373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R$ 800K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23950" y="3421261"/>
            <a:ext cx="8437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Patrimônio meta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14850" y="1964978"/>
            <a:ext cx="9525" cy="1524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67275" y="2078385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67275" y="2404021"/>
            <a:ext cx="171450" cy="17145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33975" y="2404021"/>
            <a:ext cx="18341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gastos semanalmente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7275" y="2670721"/>
            <a:ext cx="171450" cy="17145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33975" y="2670721"/>
            <a:ext cx="2138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orçamento de obra mensalmente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7275" y="2937421"/>
            <a:ext cx="171450" cy="17145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33975" y="2937421"/>
            <a:ext cx="18471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categorias dentro do budget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7275" y="3204121"/>
            <a:ext cx="171450" cy="171450"/>
          </a:xfrm>
          <a:prstGeom prst="roundRect">
            <a:avLst>
              <a:gd name="adj" fmla="val 22222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33975" y="3204121"/>
            <a:ext cx="16331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Celebrar a mudança em Junho!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33875" y="4271070"/>
            <a:ext cx="47625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" y="438537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nosso futuro, um passo de cada vez.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Financeiro 2026</dc:title>
  <dc:subject>Planejamento Financeiro Familiar</dc:subject>
  <dc:creator>Karl</dc:creator>
  <cp:lastModifiedBy>Karl</cp:lastModifiedBy>
  <cp:revision>1</cp:revision>
  <dcterms:created xsi:type="dcterms:W3CDTF">2026-01-17T21:06:30Z</dcterms:created>
  <dcterms:modified xsi:type="dcterms:W3CDTF">2026-01-17T21:06:30Z</dcterms:modified>
</cp:coreProperties>
</file>